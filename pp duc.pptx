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Xăng RON95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2020</c:v>
                </c:pt>
                <c:pt idx="8">
                  <c:v>2021</c:v>
                </c:pt>
                <c:pt idx="16">
                  <c:v>2022</c:v>
                </c:pt>
                <c:pt idx="28">
                  <c:v>2023</c:v>
                </c:pt>
                <c:pt idx="36">
                  <c:v>2024</c:v>
                </c:pt>
                <c:pt idx="44">
                  <c:v>2025</c:v>
                </c:pt>
                <c:pt idx="49">
                  <c:v>2026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18880</c:v>
                </c:pt>
                <c:pt idx="1">
                  <c:v>16390</c:v>
                </c:pt>
                <c:pt idx="2">
                  <c:v>13310</c:v>
                </c:pt>
                <c:pt idx="3">
                  <c:v>15000</c:v>
                </c:pt>
                <c:pt idx="4">
                  <c:v>15000</c:v>
                </c:pt>
                <c:pt idx="5">
                  <c:v>16990</c:v>
                </c:pt>
                <c:pt idx="6">
                  <c:v>16240</c:v>
                </c:pt>
                <c:pt idx="7">
                  <c:v>17050</c:v>
                </c:pt>
                <c:pt idx="8">
                  <c:v>17600</c:v>
                </c:pt>
                <c:pt idx="9">
                  <c:v>18580</c:v>
                </c:pt>
                <c:pt idx="10">
                  <c:v>19450</c:v>
                </c:pt>
                <c:pt idx="11">
                  <c:v>20080</c:v>
                </c:pt>
                <c:pt idx="12">
                  <c:v>19350</c:v>
                </c:pt>
                <c:pt idx="13">
                  <c:v>21100</c:v>
                </c:pt>
                <c:pt idx="14">
                  <c:v>23660</c:v>
                </c:pt>
                <c:pt idx="15">
                  <c:v>24990</c:v>
                </c:pt>
                <c:pt idx="16">
                  <c:v>24570</c:v>
                </c:pt>
                <c:pt idx="17">
                  <c:v>26280</c:v>
                </c:pt>
                <c:pt idx="18">
                  <c:v>28980</c:v>
                </c:pt>
                <c:pt idx="19">
                  <c:v>31300</c:v>
                </c:pt>
                <c:pt idx="20">
                  <c:v>29820</c:v>
                </c:pt>
                <c:pt idx="21">
                  <c:v>32870</c:v>
                </c:pt>
                <c:pt idx="22">
                  <c:v>29980</c:v>
                </c:pt>
                <c:pt idx="23">
                  <c:v>25650</c:v>
                </c:pt>
                <c:pt idx="24">
                  <c:v>22550</c:v>
                </c:pt>
                <c:pt idx="25">
                  <c:v>21870</c:v>
                </c:pt>
                <c:pt idx="26">
                  <c:v>20990</c:v>
                </c:pt>
                <c:pt idx="27">
                  <c:v>20440</c:v>
                </c:pt>
                <c:pt idx="28">
                  <c:v>20190</c:v>
                </c:pt>
                <c:pt idx="29">
                  <c:v>22360</c:v>
                </c:pt>
                <c:pt idx="30">
                  <c:v>21860</c:v>
                </c:pt>
                <c:pt idx="31">
                  <c:v>20890</c:v>
                </c:pt>
                <c:pt idx="32">
                  <c:v>22890</c:v>
                </c:pt>
                <c:pt idx="33">
                  <c:v>24270</c:v>
                </c:pt>
                <c:pt idx="34">
                  <c:v>22730</c:v>
                </c:pt>
                <c:pt idx="35">
                  <c:v>21590</c:v>
                </c:pt>
                <c:pt idx="36">
                  <c:v>22480</c:v>
                </c:pt>
                <c:pt idx="37">
                  <c:v>23660</c:v>
                </c:pt>
                <c:pt idx="38">
                  <c:v>24910</c:v>
                </c:pt>
                <c:pt idx="39">
                  <c:v>23680</c:v>
                </c:pt>
                <c:pt idx="40">
                  <c:v>20660</c:v>
                </c:pt>
                <c:pt idx="41">
                  <c:v>21080</c:v>
                </c:pt>
                <c:pt idx="42">
                  <c:v>21600</c:v>
                </c:pt>
                <c:pt idx="43">
                  <c:v>21290</c:v>
                </c:pt>
                <c:pt idx="44">
                  <c:v>21550</c:v>
                </c:pt>
                <c:pt idx="45">
                  <c:v>21890</c:v>
                </c:pt>
                <c:pt idx="46">
                  <c:v>20720</c:v>
                </c:pt>
                <c:pt idx="47">
                  <c:v>19930</c:v>
                </c:pt>
                <c:pt idx="48">
                  <c:v>20460</c:v>
                </c:pt>
                <c:pt idx="49">
                  <c:v>21550</c:v>
                </c:pt>
                <c:pt idx="50">
                  <c:v>21200</c:v>
                </c:pt>
                <c:pt idx="51">
                  <c:v>21800</c:v>
                </c:pt>
                <c:pt idx="52">
                  <c:v>22500</c:v>
                </c:pt>
                <c:pt idx="53">
                  <c:v>28000</c:v>
                </c:pt>
                <c:pt idx="54">
                  <c:v>31000</c:v>
                </c:pt>
                <c:pt idx="55">
                  <c:v>32000</c:v>
                </c:pt>
                <c:pt idx="56">
                  <c:v>30000</c:v>
                </c:pt>
                <c:pt idx="57">
                  <c:v>23540</c:v>
                </c:pt>
                <c:pt idx="58">
                  <c:v>24000</c:v>
                </c:pt>
                <c:pt idx="59">
                  <c:v>23500</c:v>
                </c:pt>
                <c:pt idx="60">
                  <c:v>24078</c:v>
                </c:pt>
                <c:pt idx="61">
                  <c:v>23800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FC-4294-AFC0-79E620976F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Xăng E5 RON92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2020</c:v>
                </c:pt>
                <c:pt idx="8">
                  <c:v>2021</c:v>
                </c:pt>
                <c:pt idx="16">
                  <c:v>2022</c:v>
                </c:pt>
                <c:pt idx="28">
                  <c:v>2023</c:v>
                </c:pt>
                <c:pt idx="36">
                  <c:v>2024</c:v>
                </c:pt>
                <c:pt idx="44">
                  <c:v>2025</c:v>
                </c:pt>
                <c:pt idx="49">
                  <c:v>2026</c:v>
                </c:pt>
              </c:strCache>
            </c:str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18050</c:v>
                </c:pt>
                <c:pt idx="1">
                  <c:v>15680</c:v>
                </c:pt>
                <c:pt idx="2">
                  <c:v>12710</c:v>
                </c:pt>
                <c:pt idx="3">
                  <c:v>14350</c:v>
                </c:pt>
                <c:pt idx="4">
                  <c:v>14350</c:v>
                </c:pt>
                <c:pt idx="5">
                  <c:v>16230</c:v>
                </c:pt>
                <c:pt idx="6">
                  <c:v>15510</c:v>
                </c:pt>
                <c:pt idx="7">
                  <c:v>16280</c:v>
                </c:pt>
                <c:pt idx="8">
                  <c:v>16820</c:v>
                </c:pt>
                <c:pt idx="9">
                  <c:v>17760</c:v>
                </c:pt>
                <c:pt idx="10">
                  <c:v>18570</c:v>
                </c:pt>
                <c:pt idx="11">
                  <c:v>19180</c:v>
                </c:pt>
                <c:pt idx="12">
                  <c:v>18480</c:v>
                </c:pt>
                <c:pt idx="13">
                  <c:v>20160</c:v>
                </c:pt>
                <c:pt idx="14">
                  <c:v>22590</c:v>
                </c:pt>
                <c:pt idx="15">
                  <c:v>23840</c:v>
                </c:pt>
                <c:pt idx="16">
                  <c:v>23450</c:v>
                </c:pt>
                <c:pt idx="17">
                  <c:v>25090</c:v>
                </c:pt>
                <c:pt idx="18">
                  <c:v>27670</c:v>
                </c:pt>
                <c:pt idx="19">
                  <c:v>29800</c:v>
                </c:pt>
                <c:pt idx="20">
                  <c:v>28450</c:v>
                </c:pt>
                <c:pt idx="21">
                  <c:v>31300</c:v>
                </c:pt>
                <c:pt idx="22">
                  <c:v>28580</c:v>
                </c:pt>
                <c:pt idx="23">
                  <c:v>24450</c:v>
                </c:pt>
                <c:pt idx="24">
                  <c:v>21510</c:v>
                </c:pt>
                <c:pt idx="25">
                  <c:v>20870</c:v>
                </c:pt>
                <c:pt idx="26">
                  <c:v>20010</c:v>
                </c:pt>
                <c:pt idx="27">
                  <c:v>19490</c:v>
                </c:pt>
                <c:pt idx="28">
                  <c:v>19250</c:v>
                </c:pt>
                <c:pt idx="29">
                  <c:v>21340</c:v>
                </c:pt>
                <c:pt idx="30">
                  <c:v>20860</c:v>
                </c:pt>
                <c:pt idx="31">
                  <c:v>19950</c:v>
                </c:pt>
                <c:pt idx="32">
                  <c:v>21850</c:v>
                </c:pt>
                <c:pt idx="33">
                  <c:v>23150</c:v>
                </c:pt>
                <c:pt idx="34">
                  <c:v>21700</c:v>
                </c:pt>
                <c:pt idx="35">
                  <c:v>20600</c:v>
                </c:pt>
                <c:pt idx="36">
                  <c:v>21440</c:v>
                </c:pt>
                <c:pt idx="37">
                  <c:v>22570</c:v>
                </c:pt>
                <c:pt idx="38">
                  <c:v>23770</c:v>
                </c:pt>
                <c:pt idx="39">
                  <c:v>22600</c:v>
                </c:pt>
                <c:pt idx="40">
                  <c:v>19700</c:v>
                </c:pt>
                <c:pt idx="41">
                  <c:v>20110</c:v>
                </c:pt>
                <c:pt idx="42">
                  <c:v>20590</c:v>
                </c:pt>
                <c:pt idx="43">
                  <c:v>20300</c:v>
                </c:pt>
                <c:pt idx="44">
                  <c:v>20540</c:v>
                </c:pt>
                <c:pt idx="45">
                  <c:v>20870</c:v>
                </c:pt>
                <c:pt idx="46">
                  <c:v>19760</c:v>
                </c:pt>
                <c:pt idx="47">
                  <c:v>19000</c:v>
                </c:pt>
                <c:pt idx="48">
                  <c:v>19500</c:v>
                </c:pt>
                <c:pt idx="49">
                  <c:v>20540</c:v>
                </c:pt>
                <c:pt idx="50">
                  <c:v>20200</c:v>
                </c:pt>
                <c:pt idx="51">
                  <c:v>20800</c:v>
                </c:pt>
                <c:pt idx="52">
                  <c:v>21440</c:v>
                </c:pt>
                <c:pt idx="53">
                  <c:v>26700</c:v>
                </c:pt>
                <c:pt idx="54">
                  <c:v>29500</c:v>
                </c:pt>
                <c:pt idx="55">
                  <c:v>30500</c:v>
                </c:pt>
                <c:pt idx="56">
                  <c:v>28600</c:v>
                </c:pt>
                <c:pt idx="57">
                  <c:v>22340</c:v>
                </c:pt>
                <c:pt idx="58">
                  <c:v>22900</c:v>
                </c:pt>
                <c:pt idx="59">
                  <c:v>22400</c:v>
                </c:pt>
                <c:pt idx="60">
                  <c:v>23134</c:v>
                </c:pt>
                <c:pt idx="61">
                  <c:v>22800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FC-4294-AFC0-79E620976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Đồng/lít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vi-VN" sz="1300" b="0" i="0" u="none" strike="noStrike">
                <a:solidFill>
                  <a:srgbClr val="1F2937"/>
                </a:solidFill>
                <a:latin typeface="Arial"/>
              </a:rPr>
              <a:t>Số lần theo hướng biến động (n = 61)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lần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CC-4795-9F41-5694B3563A1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CC-4795-9F41-5694B3563A1A}"/>
              </c:ext>
            </c:extLst>
          </c:dPt>
          <c:dPt>
            <c:idx val="2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CC-4795-9F41-5694B3563A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Tăng</c:v>
                </c:pt>
                <c:pt idx="1">
                  <c:v>Giảm</c:v>
                </c:pt>
                <c:pt idx="2">
                  <c:v>Giữ nguyên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27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CC-4795-9F41-5694B3563A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2937"/>
                </a:solidFill>
                <a:latin typeface="Arial"/>
              </a:rPr>
              <a:t>Độ lệch chuẩn (%) biên độ thay đổi giá RON95 theo năm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Độ lệch chuẩn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98-4506-B1E6-ADCF1439C0C5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98-4506-B1E6-ADCF1439C0C5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98-4506-B1E6-ADCF1439C0C5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798-4506-B1E6-ADCF1439C0C5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798-4506-B1E6-ADCF1439C0C5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798-4506-B1E6-ADCF1439C0C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798-4506-B1E6-ADCF1439C0C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12.28</c:v>
                </c:pt>
                <c:pt idx="1">
                  <c:v>4.6100000000000003</c:v>
                </c:pt>
                <c:pt idx="2">
                  <c:v>8.48</c:v>
                </c:pt>
                <c:pt idx="3">
                  <c:v>6.85</c:v>
                </c:pt>
                <c:pt idx="4">
                  <c:v>6.23</c:v>
                </c:pt>
                <c:pt idx="5">
                  <c:v>3.59</c:v>
                </c:pt>
                <c:pt idx="6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798-4506-B1E6-ADCF1439C0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vi-VN" sz="1300" b="0" i="0" u="none" strike="noStrike">
                <a:solidFill>
                  <a:srgbClr val="1F2937"/>
                </a:solidFill>
                <a:latin typeface="Arial"/>
              </a:rPr>
              <a:t>Mức độ quan trọng đặc trưng (Random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Mức độ quan trọng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Giá RON95</c:v>
                </c:pt>
                <c:pt idx="1">
                  <c:v>Tháng</c:v>
                </c:pt>
                <c:pt idx="2">
                  <c:v>% thay đổi</c:v>
                </c:pt>
                <c:pt idx="3">
                  <c:v>Khoảng cách ngày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0.36799999999999999</c:v>
                </c:pt>
                <c:pt idx="1">
                  <c:v>0.222</c:v>
                </c:pt>
                <c:pt idx="2">
                  <c:v>0.214</c:v>
                </c:pt>
                <c:pt idx="3">
                  <c:v>0.19600000000000001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67-491D-B478-371B76852D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2937"/>
                </a:solidFill>
                <a:latin typeface="Arial"/>
              </a:rPr>
              <a:t>Số kỳ điều hành theo nhóm (K-Means, k=3)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kỳ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10-4324-B008-AE35B9F8D50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10-4324-B008-AE35B9F8D5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Ổn định</c:v>
                </c:pt>
                <c:pt idx="1">
                  <c:v>Biến động mạnh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10-4324-B008-AE35B9F8D5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74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HỌC DỮ LIỆU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VÀ DỰ ĐOÁN GIÁ XĂNG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VIỆT NAM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kỳ điều hành giai đoạn 2020 – 2026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5074920"/>
            <a:ext cx="12801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Tiến Đức  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(MSSV: K225480106081)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58KTPM  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Nguyễn Văn Huy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— 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sao chọn đề tài này?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2020–2026 chứng kiến 3 cú sốc lớn liên tiếp của thị trường xăng dầu — bối cảnh dữ liệu hiếm có để vận dụng khoa học dữ liệu.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0060" y="2103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" y="233172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468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(2020)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8660" y="3337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dầu WTI giao dịch ở mức ÂM lịch sử lần đầu tiên (20/4/2020).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0540" y="2103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9140" y="233172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468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914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Xung đột Nga–Ukraine (2022)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49140" y="3337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Brent vượt 130 USD/thùng — mức cao nhất gần một thập kỷ.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61020" y="2103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89620" y="233172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4688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962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đổi xăng E10 (2025–2026)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89620" y="3337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điểm chuyển từ RON95 sang xăng sinh học E10 theo Nghị quyết 29/2026/NQ-CP.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— 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nghĩa thực tiễn của đề tài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tiêu dùng cá nhân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quy luật tần suất/biên độ điều chỉnh để chọn thời điểm đổ xăng hợp lý.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nghiệp vận tải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6060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giai đoạn 'ổn định' và 'biến động mạnh' để chủ động lập kế hoạch chi phí nhiên liệu.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" y="3703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69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572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quan quản lý nhà nước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Góc nhìn định lượng độc lập đánh giá hiệu quả Quỹ bình ổn giá.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3192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0690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4572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Nghiên cứu &amp; sinh viên khóa sau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đầy đủ có thể tái sử dụng cho các đề tài phân tích dữ liệu hàng hóa khác.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— 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tiêu: 7 câu hỏi nghiên cứu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CÂU HỎI PHÂN TÍCH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Tần suất và biên độ điều chỉnh giá mỗi kỳ điều hành?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Tương quan với giá dầu thô thế giới (Brent/WTI)?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Tác động của COVID-19 (2020–2021) so với bình thường?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Hiệu quả của Quỹ bình ổn giá xăng dầu?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Hiệu ứng 'Rocket and Feather' (tăng nhanh – giảm chậm)?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BE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CÂU HỎI DỰ ĐOÁN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Kỳ điều hành tiếp theo sẽ tăng, giảm hay giữ nguyên?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Các kỳ điều hành có thể nhóm thành những giai đoạn đặc trưng nào dựa trên biên độ &amp; tần suất?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sử dụng: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(phân loại)  •  K-Means (phân cụm)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— GIỚI THIỆU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và công cụ sử dụng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77240" cy="7772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727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353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Pandas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0" y="1371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Đọc, làm sạch và xử lý dữ liệu chuỗi thời gian (diff, pct_change, groupby, merge_asof).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777240" cy="7772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7797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Seaborn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86400" y="25786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hóa: biểu đồ đường, histogram, boxplot, bar chart.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785616"/>
            <a:ext cx="777240" cy="7772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9867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486400" y="37856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(phân loại xu hướng) và K-Means (phân nhóm giai đoạn).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992624"/>
            <a:ext cx="777240" cy="7772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19379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974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6400" y="49926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thực thi, trình bày mã nguồn và kết quả đồng thời.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— THIẾT KẾ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 phân tích</a:t>
            </a:r>
            <a:endParaRPr lang="en-US" sz="3000" dirty="0"/>
          </a:p>
        </p:txBody>
      </p:sp>
      <p:pic>
        <p:nvPicPr>
          <p:cNvPr id="4" name="Image 0" descr="sodokh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25880"/>
            <a:ext cx="9692640" cy="5844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— THIẾT KẾ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 thập dữ liệu: 3 lần điều chỉnh hướng tiếp cận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8660" y="1874520"/>
            <a:ext cx="548640" cy="548640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" y="2560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Lần 1: Cào tự động webgia.com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8660" y="3200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(requests + BeautifulSoup) cào theo tháng 2020–2026.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8660" y="4434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có dữ liệu đến 06/2020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054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9140" y="1874520"/>
            <a:ext cx="548640" cy="548640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011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9140" y="2560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Lần 2: Khảo sát nguồn thay thế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49140" y="3200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moit.gov.vn (không có danh mục), VietnamPlus (phân trang JS).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49140" y="4434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nguồn nào đầy đủ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6102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9620" y="1874520"/>
            <a:ext cx="548640" cy="54864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011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9620" y="2560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Quyết định cuối: 62 mốc tiêu biểu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89620" y="3200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mốc giá gắn với bối cảnh kinh tế quan trọng, trải đều 2020–2026.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89620" y="4434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thi &amp; đủ ý nghĩa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— THỰC NGHIỆM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dữ liệu (EDA)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mốc giá tiêu biểu  •  13/01/2020 → 14/05/2026  •  Không có giá trị thiếu (NaN)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2377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 RON92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Dầu Diesel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(đ/lít)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lệch chuẩn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nhất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nhất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21945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Dầu Diesel có độ lệch chuẩn cao nhất — chịu ảnh hưởng mạnh hơn từ các cú sốc cung ứng/vận tải toàn cầu (đặc biệt giai đoạn xung đột Nga–Ukraine).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— THỰC NGHIỆM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Diễn biến giá xăng Việt Nam (2020–2026)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110642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PHÂN TÍCH 1/5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 suất và biên độ điều chỉnh giá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 ngày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 suất TB giữa các lần điều chỉnh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8132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±8,15%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lệch chuẩn biên độ thay đổi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48132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+24,44%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tăng mạnh nhất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48132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-21,53%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giảm sâu nhất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1280160" y="3429000"/>
          <a:ext cx="9601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PHÂN TÍCH 2/5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Tương quan với giá dầu thô thế giới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điểm cực trị của giá xăng trong nước trùng khớp với hai sự kiện cực trị của giá dầu thế giới đã biết đến rộng rãi: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0FDF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17/04/2020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13.310 đ/lít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RON95 thấp nhất toàn bộ dữ liệu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Trùng thời điểm WTI thế giới giao dịch ở mức ÂM lịch sử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FFBE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 năm 2022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32.870 đ/lít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368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RON95 cao nhất toàn bộ dữ liệu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Trùng giai đoạn Brent thế giới vượt 130 USD/thùng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Hệ số tương quan Pearson định lượng chưa tính được trong lần thực nghiệm này (thiếu file giá dầu thế giới cùng thư mục).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PHÂN TÍCH 3/5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động của COVID-19 (2020–2021)</a:t>
            </a:r>
            <a:endParaRPr lang="en-US" sz="3000" dirty="0"/>
          </a:p>
        </p:txBody>
      </p:sp>
      <p:pic>
        <p:nvPicPr>
          <p:cNvPr id="4" name="Image 0" descr="chart_cell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21208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riêng 2 năm — phát hiện bất ngờ: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2648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20299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12,28%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21792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lệch chuẩn 2020 (cao nhất 7 năm)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86968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69680" y="20299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96112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lệch chuẩn 2021 (thấp hơn cả bình thường)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36576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gộp 2 năm (9,17%) đã che lấp sự khác biệt: 2020 là năm 'sốc' thực sự (hình chữ V), còn 2021 là năm phục hồi ổn định.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PHÂN TÍCH 4/5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quả của Quỹ bình ổn giá xăng dầu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73152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38160" y="18288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&amp; 2026 biến động cao nhất — đúng vào cú sốc y tế toàn cầu và chuyển đổi cấu trúc sản phẩm (E10), vượt khả năng kiểm soát thuần túy bằng giá.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0" y="3749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ổn định nhất (3,59%) — Quỹ phát huy tác dụng tốt trong điều kiện thị trường bình thường.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PHÂN TÍCH 5/5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ứng “Rocket and Feather”</a:t>
            </a:r>
            <a:endParaRPr lang="en-US" sz="3000" dirty="0"/>
          </a:p>
        </p:txBody>
      </p:sp>
      <p:pic>
        <p:nvPicPr>
          <p:cNvPr id="4" name="Image 0" descr="chart_cell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21208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6642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0,395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21792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%/ngày — Tốc độ TĂNG giá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8696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69680" y="16642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0,348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96112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%/ngày — Tốc độ GIẢM giá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Tốc độ tăng giá nhanh hơn tốc độ giảm giá khoảng 13,5%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26480" y="3840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ủng hộ một phần giả thuyết “tăng nhanh – giảm chậm”, dù mức chênh lệch khiêm tốn hơn thị trường tự do hoàn toàn — có thể do cơ chế điều hành theo kỳ cố định và vai trò của Quỹ bình ổn.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DỰ ĐOÁN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đoán xu hướng kỳ điều hành tiếp theo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2588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148132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609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509760" y="13716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0" y="148132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50/50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60120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Tăng/Giảm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306324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F0FDFA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đoán kỳ tới: GIẢM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43800" y="3703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thấp — gần tương đương tung đồng xu, do cỡ mẫu nhỏ (~60 quan sát) và thiếu biến vĩ mô.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DỰ ĐOÁN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nhóm các giai đoạn đặc trưng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2588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5270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3,64%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4652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độ TB — nhóm Ổn định (70,5%)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0982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098280" y="15270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13,22%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8972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độ TB — nhóm Biến động (27,9%)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tốt nhất: 0,507 (k=3)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34747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tự động phát hiện 2 nhóm có ý nghĩa kinh tế rõ ràng, không cần gán nhãn thủ công. Biên độ nhóm 'biến động mạnh' gấp 3,6 lần nhóm 'ổn định'.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— 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kết các phát hiện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độ dao động rất rộng: từ -21,53% đến +24,44% mỗi lần điều chỉnh.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1371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điểm cực trị giá xăng trùng khớp 2 sự kiện cực trị giá dầu thế giới.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786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và 2021 có đặc tính biến động hoàn toàn khác nhau dù cùng 'giai đoạn COVID'.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262432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257860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Quỹ bình ổn hiệu quả với cú sốc thông thường, hạn chế với cú sốc cấu trúc.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85616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dấu hiệu ủng hộ hiệu ứng Rocket and Feather (tăng nhanh hơn giảm ~13,5%).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31336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3785616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dự đoán xu hướng kỳ tới chưa đủ tin cậy (accuracy 0,47).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3834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38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992624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phân nhóm K-Means hoạt động tốt (silhouette 0,507).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D9488">
              <a:alpha val="13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hoàn thành đầy đủ quy trình Khoa học Dữ liệu: thu thập → xử lý → phân tích → học máy → kết luận.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được 5/5 câu hỏi phân tích và 2/2 câu hỏi dự đoán, với số liệu thật trích xuất từ notebook.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chính: dữ liệu là các mốc tiêu biểu, cỡ mẫu nhỏ ảnh hưởng độ tin cậy mô hình dự đoán.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bổ sung dữ liệu giá dầu thế giới, mở rộng cỡ mẫu, thêm biến vĩ mô (tỷ giá, Quỹ bình ổn).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5212080"/>
            <a:ext cx="12801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49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TS. Nguyễn Văn Huy đã hướng dẫn!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Tiến Đức  —  K225480106081  —  Lớp 58KTPM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1649</Words>
  <Application>Microsoft Office PowerPoint</Application>
  <PresentationFormat>Widescreen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 tich va du doan gia xang tai Viet Nam 2020-2026</dc:title>
  <dc:subject>PptxGenJS Presentation</dc:subject>
  <dc:creator>Nguyen Tien Duc</dc:creator>
  <cp:lastModifiedBy>DELL</cp:lastModifiedBy>
  <cp:revision>1</cp:revision>
  <dcterms:created xsi:type="dcterms:W3CDTF">2026-06-21T04:31:19Z</dcterms:created>
  <dcterms:modified xsi:type="dcterms:W3CDTF">2026-06-21T04:36:54Z</dcterms:modified>
</cp:coreProperties>
</file>